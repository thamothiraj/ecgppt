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25" r:id="rId4"/>
  </p:sldMasterIdLst>
  <p:notesMasterIdLst>
    <p:notesMasterId r:id="rId18"/>
  </p:notesMasterIdLst>
  <p:handoutMasterIdLst>
    <p:handoutMasterId r:id="rId19"/>
  </p:handoutMasterIdLst>
  <p:sldIdLst>
    <p:sldId id="325" r:id="rId5"/>
    <p:sldId id="326" r:id="rId6"/>
    <p:sldId id="259" r:id="rId7"/>
    <p:sldId id="344" r:id="rId8"/>
    <p:sldId id="261" r:id="rId9"/>
    <p:sldId id="263" r:id="rId10"/>
    <p:sldId id="349" r:id="rId11"/>
    <p:sldId id="264" r:id="rId12"/>
    <p:sldId id="265" r:id="rId13"/>
    <p:sldId id="343" r:id="rId14"/>
    <p:sldId id="350" r:id="rId15"/>
    <p:sldId id="348" r:id="rId16"/>
    <p:sldId id="34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240" autoAdjust="0"/>
  </p:normalViewPr>
  <p:slideViewPr>
    <p:cSldViewPr snapToGrid="0">
      <p:cViewPr varScale="1">
        <p:scale>
          <a:sx n="76" d="100"/>
          <a:sy n="76" d="100"/>
        </p:scale>
        <p:origin x="62" y="91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0147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9262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7529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286D1-A884-8D04-2A88-29947DB0D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7B96C4-6368-0842-B36D-2F0880F8A4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2726F1-A5FD-C0E7-0ACC-9953BB4B37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6247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E6835-8697-E98B-112A-47E534F84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3893DC-F3EF-7569-76FB-C16DE9D755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770EB-1BB0-7296-B778-F24F7B8FE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16BA0-0BBF-4964-A144-5D29153351D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5BD4F-5DAD-AEAB-51C0-09A74E3D9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E811D-6F6D-CCCE-AA3E-9689BF168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AFBF4-820D-4F8C-B69A-67A7E50C0D63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reeform 12">
            <a:extLst>
              <a:ext uri="{FF2B5EF4-FFF2-40B4-BE49-F238E27FC236}">
                <a16:creationId xmlns:a16="http://schemas.microsoft.com/office/drawing/2014/main" id="{AC611ADE-6AAC-FE94-0151-093F900D6F9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F2D430-4366-53F3-466E-1A609A46E2B3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021095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AE8EB-6B3E-1593-F7E1-F2EE42C34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ADCFB-B3B6-D573-CAB5-ABF9B9898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8370B-C4D6-5ED5-21C3-015F54A84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16BA0-0BBF-4964-A144-5D29153351D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10670-CAB5-D154-BFFB-7BBA531D9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54A67-5DCD-7615-541B-F1BD3838B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927998"/>
      </p:ext>
    </p:extLst>
  </p:cSld>
  <p:clrMapOvr>
    <a:masterClrMapping/>
  </p:clrMapOvr>
  <p:transition spd="slow">
    <p:cover/>
  </p:transition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82F96-FC64-BF05-1019-53FDA1AC9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CACC2-80C4-9C70-89FB-7BE970DDE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AF2CC-FCFD-4D16-796C-FC29805B4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16BA0-0BBF-4964-A144-5D29153351D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EADE1-4B53-29D2-7A6E-DCF70D346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4D802-384C-AFFD-61B9-00E54B085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291311"/>
      </p:ext>
    </p:extLst>
  </p:cSld>
  <p:clrMapOvr>
    <a:masterClrMapping/>
  </p:clrMapOvr>
  <p:transition spd="slow">
    <p:cover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E7136-1E0B-A91A-414D-6D6F4815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04A97-BE68-74E1-B666-92789A9A00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9E8408-6FE1-B810-84FB-4EE7942E51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42B9CF-6C7E-0BDF-6BD3-9DD8179D5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16BA0-0BBF-4964-A144-5D29153351D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01F83-5822-2078-D950-6476E9B41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91046E-1032-2722-E31C-809C12C2E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924677"/>
      </p:ext>
    </p:extLst>
  </p:cSld>
  <p:clrMapOvr>
    <a:masterClrMapping/>
  </p:clrMapOvr>
  <p:transition spd="slow">
    <p:cover/>
  </p:transition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55D35-E387-0585-EDE6-57FC36811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A3B48-6C57-A395-31CF-3361E9D45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CE9069-00FE-7F6A-EE58-B78DCA2378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0DFF41-B38C-DCE4-A934-31C2184239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9B99D0-E03F-5C26-CA20-265124D772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80C6E2-EF6D-B028-EFCE-3F207C17B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16BA0-0BBF-4964-A144-5D29153351D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1A932F-C748-4DA7-15C1-CCABC91D7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B495E6-2E10-F98A-DD12-FEB7B54B2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90741"/>
      </p:ext>
    </p:extLst>
  </p:cSld>
  <p:clrMapOvr>
    <a:masterClrMapping/>
  </p:clrMapOvr>
  <p:transition spd="slow">
    <p:cover/>
  </p:transition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3AF53-5B8D-428A-E254-CDA833F63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FAD343-0389-1E37-5F42-2930338A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16BA0-0BBF-4964-A144-5D29153351D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56DE4F-FFB2-B973-C0D2-F8D145294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0CD27-0CCD-D917-6A29-7BED49815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532381"/>
      </p:ext>
    </p:extLst>
  </p:cSld>
  <p:clrMapOvr>
    <a:masterClrMapping/>
  </p:clrMapOvr>
  <p:transition spd="slow">
    <p:cover/>
  </p:transition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8AA08B-9307-15BB-C88A-1514311FE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16BA0-0BBF-4964-A144-5D29153351D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64CAD3-2EBC-E2D7-7D2A-2B5E90170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67BCA-A6DF-D0C5-20F2-33579A37B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348784"/>
      </p:ext>
    </p:extLst>
  </p:cSld>
  <p:clrMapOvr>
    <a:masterClrMapping/>
  </p:clrMapOvr>
  <p:transition spd="slow">
    <p:cover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B8F75-50FB-55E0-0F29-1BFBFE9CB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6BC74-5E89-33D3-350E-5ADD0C9B3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6A4B65-8A73-61BF-5F6E-D464090AB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DE11B-B6CF-4AE2-8907-10B4A6088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16BA0-0BBF-4964-A144-5D29153351D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0EAB5C-8F59-CD87-C582-9D6D5707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CEEAE4-0F41-56F4-8A6A-0ED1E10E4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802404"/>
      </p:ext>
    </p:extLst>
  </p:cSld>
  <p:clrMapOvr>
    <a:masterClrMapping/>
  </p:clrMapOvr>
  <p:transition spd="slow">
    <p:cover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C5A33-99C2-E222-222E-9961EAE8F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804F69-9FF9-EB68-EEBF-FD656A1740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E73941-4764-10AD-BB92-07FFE9A22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0EBC1-4521-BB1D-1CD8-63ABE3185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16BA0-0BBF-4964-A144-5D29153351D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01E37-CBD1-ABE8-36D2-AFE01F3E4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49F506-8DFB-913E-06D3-83DB98C4B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897110"/>
      </p:ext>
    </p:extLst>
  </p:cSld>
  <p:clrMapOvr>
    <a:masterClrMapping/>
  </p:clrMapOvr>
  <p:transition spd="slow">
    <p:cover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C4953-73E0-B5D9-2E0C-FE40CE104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43439B-5124-E16A-3655-D09DF29EFB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DC687-19C0-A569-D56E-84762B5A8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16BA0-0BBF-4964-A144-5D29153351D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B04DF-D4A1-C525-1266-E8260DC4B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D391D-D719-A6BC-8091-44BE4F9B7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428682"/>
      </p:ext>
    </p:extLst>
  </p:cSld>
  <p:clrMapOvr>
    <a:masterClrMapping/>
  </p:clrMapOvr>
  <p:transition spd="slow">
    <p:cover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205A99-F839-2596-6D9D-5B92816E2B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547D67-BF32-AFF0-E7DA-44D7C316E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0B96F-DEB5-3051-8021-6204C5A32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16BA0-0BBF-4964-A144-5D29153351D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59CE6-085E-A19B-CD52-5D90E8CF7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E2B11-3B40-5984-789E-2F8999DD7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133127"/>
      </p:ext>
    </p:extLst>
  </p:cSld>
  <p:clrMapOvr>
    <a:masterClrMapping/>
  </p:clrMapOvr>
  <p:transition spd="slow">
    <p:cover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1831156"/>
      </p:ext>
    </p:extLst>
  </p:cSld>
  <p:clrMapOvr>
    <a:masterClrMapping/>
  </p:clrMapOvr>
  <p:transition spd="slow">
    <p:cover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876944"/>
      </p:ext>
    </p:extLst>
  </p:cSld>
  <p:clrMapOvr>
    <a:masterClrMapping/>
  </p:clrMapOvr>
  <p:transition spd="slow">
    <p:cover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/>
          <a:lstStyle>
            <a:lvl1pPr>
              <a:defRPr sz="32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423055"/>
      </p:ext>
    </p:extLst>
  </p:cSld>
  <p:clrMapOvr>
    <a:masterClrMapping/>
  </p:clrMapOvr>
  <p:transition spd="slow">
    <p:cover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4727122"/>
      </p:ext>
    </p:extLst>
  </p:cSld>
  <p:clrMapOvr>
    <a:masterClrMapping/>
  </p:clrMapOvr>
  <p:transition spd="slow">
    <p:cover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7851325"/>
      </p:ext>
    </p:extLst>
  </p:cSld>
  <p:clrMapOvr>
    <a:masterClrMapping/>
  </p:clrMapOvr>
  <p:transition spd="slow">
    <p:cover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26878-7414-266F-6031-A54BF2284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AFA93-9449-A201-4A81-14A48C875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0DE09-7049-4BA6-51BD-FAE26A9397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A16BA0-0BBF-4964-A144-5D29153351D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F5ED0-FBFB-C1CD-9A33-762A115F4C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198A6-7651-1CB0-57A9-0E86FBB2CF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494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  <p:sldLayoutId id="2147483927" r:id="rId2"/>
    <p:sldLayoutId id="2147483928" r:id="rId3"/>
    <p:sldLayoutId id="2147483929" r:id="rId4"/>
    <p:sldLayoutId id="2147483930" r:id="rId5"/>
    <p:sldLayoutId id="2147483931" r:id="rId6"/>
    <p:sldLayoutId id="2147483932" r:id="rId7"/>
    <p:sldLayoutId id="2147483933" r:id="rId8"/>
    <p:sldLayoutId id="2147483934" r:id="rId9"/>
    <p:sldLayoutId id="2147483935" r:id="rId10"/>
    <p:sldLayoutId id="2147483936" r:id="rId11"/>
    <p:sldLayoutId id="2147483937" r:id="rId12"/>
    <p:sldLayoutId id="2147483938" r:id="rId13"/>
    <p:sldLayoutId id="2147483939" r:id="rId14"/>
    <p:sldLayoutId id="2147483940" r:id="rId15"/>
    <p:sldLayoutId id="2147483941" r:id="rId16"/>
    <p:sldLayoutId id="2147483660" r:id="rId17"/>
  </p:sldLayoutIdLst>
  <p:transition spd="slow">
    <p:cover/>
  </p:transition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200769"/>
            <a:ext cx="10515600" cy="118872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ECG  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1307D8B-2864-21B6-1CE1-B605F2928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9087" y="5748909"/>
            <a:ext cx="11553825" cy="1623441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Thamothiraj v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–Bio Medical Engineering</a:t>
            </a:r>
          </a:p>
        </p:txBody>
      </p:sp>
      <p:sp>
        <p:nvSpPr>
          <p:cNvPr id="3" name="AutoShape 2" descr="Image result for mac 5 ecg machine">
            <a:extLst>
              <a:ext uri="{FF2B5EF4-FFF2-40B4-BE49-F238E27FC236}">
                <a16:creationId xmlns:a16="http://schemas.microsoft.com/office/drawing/2014/main" id="{86D1D48B-CE93-D875-8669-A3FB5E3445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93076" y="2486024"/>
            <a:ext cx="6716684" cy="2867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Diagnostic ECG &amp; Resting ECG | GE HealthCare (United States)">
            <a:extLst>
              <a:ext uri="{FF2B5EF4-FFF2-40B4-BE49-F238E27FC236}">
                <a16:creationId xmlns:a16="http://schemas.microsoft.com/office/drawing/2014/main" id="{EB5E0E39-6DE6-BA03-803E-BC88960EC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929" y="1389489"/>
            <a:ext cx="7926977" cy="416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B422-1287-FCEB-63CE-599FDC84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514705" cy="1562100"/>
          </a:xfrm>
        </p:spPr>
        <p:txBody>
          <a:bodyPr>
            <a:normAutofit/>
          </a:bodyPr>
          <a:lstStyle/>
          <a:p>
            <a:pPr algn="ctr"/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an ECG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38CD2-9585-7E51-5359-D52935A77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442" y="1419860"/>
            <a:ext cx="6162673" cy="4998720"/>
          </a:xfrm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ECG  stands for electrocardiogram (also called EKG).</a:t>
            </a:r>
          </a:p>
          <a:p>
            <a:pPr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device can detect the electrical activity of the heart are real time period</a:t>
            </a:r>
          </a:p>
          <a:p>
            <a:pPr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ECG machine was diagnostic device it was recorded by the electrical activity of the heart and mainly detected the abnormality in heart rhythms in the rate</a:t>
            </a:r>
          </a:p>
          <a:p>
            <a:pPr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normal resting heart rate is 60 to 100 beats per minute (bpm)</a:t>
            </a:r>
            <a:endParaRPr lang="en-IN" sz="20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Ø"/>
            </a:pPr>
            <a:endParaRPr lang="en-US" sz="20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6" name="Picture 6" descr="Electrocardiogram">
            <a:extLst>
              <a:ext uri="{FF2B5EF4-FFF2-40B4-BE49-F238E27FC236}">
                <a16:creationId xmlns:a16="http://schemas.microsoft.com/office/drawing/2014/main" id="{D084CFB0-69CC-A7BA-9F07-626317625124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05" b="17105"/>
          <a:stretch>
            <a:fillRect/>
          </a:stretch>
        </p:blipFill>
        <p:spPr bwMode="auto">
          <a:xfrm>
            <a:off x="6578115" y="1271065"/>
            <a:ext cx="4959228" cy="3977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0866480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5725"/>
            <a:ext cx="12192000" cy="1400175"/>
          </a:xfrm>
          <a:noFill/>
        </p:spPr>
        <p:txBody>
          <a:bodyPr anchor="ctr" anchorCtr="0">
            <a:noAutofit/>
          </a:bodyPr>
          <a:lstStyle/>
          <a:p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 principle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1683328"/>
            <a:ext cx="10515600" cy="3013364"/>
          </a:xfrm>
          <a:noFill/>
        </p:spPr>
        <p:txBody>
          <a:bodyPr>
            <a:normAutofit/>
          </a:bodyPr>
          <a:lstStyle/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produces electrical impulses during contraction and relaxation.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ECG machine detects these impulses using electrodes.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Electrical signals are amplified and recorded as a waveform.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waveform represents one cardiac cycle.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potential = Graphical representation</a:t>
            </a:r>
          </a:p>
          <a:p>
            <a:pPr algn="l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037533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AA3FC-D21D-0B12-6DA0-D7153F5B1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Procedure</a:t>
            </a:r>
            <a:endParaRPr lang="en-IN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A84E26-18FF-2992-95D5-7EAB88F5DF37}"/>
              </a:ext>
            </a:extLst>
          </p:cNvPr>
          <p:cNvSpPr txBox="1"/>
          <p:nvPr/>
        </p:nvSpPr>
        <p:spPr>
          <a:xfrm>
            <a:off x="1161617" y="1867714"/>
            <a:ext cx="9868766" cy="556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900"/>
              </a:spcAft>
            </a:pPr>
            <a:r>
              <a:rPr lang="en-IN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Preparation:</a:t>
            </a: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The patient lies still on an examination table, typically removing clothing from the waist up. Shaving of chest hair may be necessary for proper electrode contact.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44469F-CB9F-FF74-031F-66EE071A7599}"/>
              </a:ext>
            </a:extLst>
          </p:cNvPr>
          <p:cNvSpPr txBox="1"/>
          <p:nvPr/>
        </p:nvSpPr>
        <p:spPr>
          <a:xfrm>
            <a:off x="1161614" y="2758767"/>
            <a:ext cx="9676101" cy="787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900"/>
              </a:spcAft>
            </a:pPr>
            <a:r>
              <a:rPr lang="en-IN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Electrode Placement:</a:t>
            </a: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 technician attaches 10-12 electrodes to the skin, typically placed on the limbs and specific, precise locations on the chest. These do not send electricity </a:t>
            </a:r>
            <a:r>
              <a:rPr lang="en-IN" sz="2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the body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287D17-C593-551A-230C-CA52F0577C6F}"/>
              </a:ext>
            </a:extLst>
          </p:cNvPr>
          <p:cNvSpPr txBox="1"/>
          <p:nvPr/>
        </p:nvSpPr>
        <p:spPr>
          <a:xfrm>
            <a:off x="1161614" y="3700084"/>
            <a:ext cx="967610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Recording the ECG:</a:t>
            </a: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The electrodes are connected to an ECG machine via lead wires. The machine records the heart's electrical impulses as they travel through the heart muscle, displaying them as waveforms on a screen or printer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F3260E-07F3-87FC-A78D-56F4DB3B0543}"/>
              </a:ext>
            </a:extLst>
          </p:cNvPr>
          <p:cNvSpPr txBox="1"/>
          <p:nvPr/>
        </p:nvSpPr>
        <p:spPr>
          <a:xfrm>
            <a:off x="1161614" y="5091993"/>
            <a:ext cx="9676101" cy="557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900"/>
              </a:spcAft>
            </a:pPr>
            <a:r>
              <a:rPr lang="en-IN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Completion:</a:t>
            </a: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After about 10 seconds of active recording, the electrodes are removed, and the patient can immediately return to normal activity. </a:t>
            </a:r>
          </a:p>
        </p:txBody>
      </p:sp>
    </p:spTree>
    <p:extLst>
      <p:ext uri="{BB962C8B-B14F-4D97-AF65-F5344CB8AC3E}">
        <p14:creationId xmlns:p14="http://schemas.microsoft.com/office/powerpoint/2010/main" val="2894302566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11658C9-2EDC-33BD-CF35-282661CAD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152" y="141912"/>
            <a:ext cx="8603848" cy="847267"/>
          </a:xfrm>
        </p:spPr>
        <p:txBody>
          <a:bodyPr>
            <a:normAutofit/>
          </a:bodyPr>
          <a:lstStyle/>
          <a:p>
            <a:pPr algn="ctr"/>
            <a:r>
              <a:rPr lang="en-US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ECG electrode placement </a:t>
            </a:r>
            <a:endParaRPr lang="en-US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57B7E73-4793-1AEF-21E9-D57BAC7F5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0076" y="989179"/>
            <a:ext cx="7620000" cy="5446345"/>
          </a:xfrm>
        </p:spPr>
        <p:txBody>
          <a:bodyPr>
            <a:normAutofit/>
          </a:bodyPr>
          <a:lstStyle/>
          <a:p>
            <a:pPr marL="228600" indent="0" algn="ctr">
              <a:lnSpc>
                <a:spcPct val="200000"/>
              </a:lnSpc>
              <a:buNone/>
            </a:pPr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Limb Electrodes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(Right Arm): The Right Shoulder And Wrist</a:t>
            </a:r>
          </a:p>
          <a:p>
            <a:pPr marL="228600" indent="0">
              <a:lnSpc>
                <a:spcPct val="150000"/>
              </a:lnSpc>
              <a:buNone/>
            </a:pP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(red)color</a:t>
            </a:r>
          </a:p>
          <a:p>
            <a:pPr>
              <a:lnSpc>
                <a:spcPct val="100000"/>
              </a:lnSpc>
            </a:pP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(Left Arm):  The Left Shoulder And Wrist</a:t>
            </a:r>
          </a:p>
          <a:p>
            <a:pPr marL="228600" indent="0">
              <a:lnSpc>
                <a:spcPct val="150000"/>
              </a:lnSpc>
              <a:buNone/>
            </a:pP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(Yellow)color</a:t>
            </a:r>
          </a:p>
          <a:p>
            <a:pPr>
              <a:lnSpc>
                <a:spcPct val="150000"/>
              </a:lnSpc>
            </a:pP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RL (Right Leg):  Below The Right Torso (Often Used As Ground) (Black)color</a:t>
            </a:r>
          </a:p>
          <a:p>
            <a:pPr>
              <a:lnSpc>
                <a:spcPct val="150000"/>
              </a:lnSpc>
            </a:pP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LL (Left Leg): Below The Left Torso (Green)color</a:t>
            </a:r>
            <a:endParaRPr lang="en-IN" sz="20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Ecg Electrode Placement Diagram">
            <a:extLst>
              <a:ext uri="{FF2B5EF4-FFF2-40B4-BE49-F238E27FC236}">
                <a16:creationId xmlns:a16="http://schemas.microsoft.com/office/drawing/2014/main" id="{65832D7A-E9C8-D7F8-E270-6BA8D08483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906475CA-BBB3-857D-3D87-36492965FF3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6268" r="6268"/>
          <a:stretch>
            <a:fillRect/>
          </a:stretch>
        </p:blipFill>
        <p:spPr>
          <a:xfrm>
            <a:off x="211238" y="680720"/>
            <a:ext cx="3200400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0A6FD18-1AAB-C8F5-0B84-15C29C816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923" y="4846320"/>
            <a:ext cx="4473513" cy="112242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Electrode Colours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D14418-6167-ACE4-2FA7-A9C72F07204B}"/>
              </a:ext>
            </a:extLst>
          </p:cNvPr>
          <p:cNvSpPr txBox="1"/>
          <p:nvPr/>
        </p:nvSpPr>
        <p:spPr>
          <a:xfrm>
            <a:off x="6430574" y="821992"/>
            <a:ext cx="546658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Place on the 4th intercostal space on the right side of the sternum (red)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V2: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Place on the 4th intercostal space on the left side of the sternum (yellow)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V3: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Place exactly midway between V2 and V4 (green)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V4: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Place on the 5th intercostal space along the mid-clavicular line (blue)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V5: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Place on the 5th intercostal space along the anterior axillary line (front of the armpit) (orange)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V6: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Place on the 5th intercostal space along the mid-axillary line (middle of the armpit) (purple)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5580FA4E-A449-70E0-045C-15E25CB58CA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9512" r="9512"/>
          <a:stretch>
            <a:fillRect/>
          </a:stretch>
        </p:blipFill>
        <p:spPr>
          <a:xfrm>
            <a:off x="657161" y="1150466"/>
            <a:ext cx="4236385" cy="336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D3F4A-D136-99C3-BC24-75A204566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Einthoven’s triangle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inthoven's triangle - Wikipedia">
            <a:extLst>
              <a:ext uri="{FF2B5EF4-FFF2-40B4-BE49-F238E27FC236}">
                <a16:creationId xmlns:a16="http://schemas.microsoft.com/office/drawing/2014/main" id="{7A9CA699-316C-45D4-A930-EDE5A8A282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346" y="1883207"/>
            <a:ext cx="6175664" cy="411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01C081C-74B4-C030-9571-77D0907E486B}"/>
              </a:ext>
            </a:extLst>
          </p:cNvPr>
          <p:cNvSpPr txBox="1"/>
          <p:nvPr/>
        </p:nvSpPr>
        <p:spPr>
          <a:xfrm>
            <a:off x="7270170" y="2385908"/>
            <a:ext cx="492183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Points of the triangle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aVR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– Augmented Voltage Right arm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aVL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– Augmented Voltage Left arm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aVF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– Augmented Voltage Foot (Left leg)</a:t>
            </a:r>
          </a:p>
          <a:p>
            <a:b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three bipolar limb leads</a:t>
            </a:r>
          </a:p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Lead I: LA – RA</a:t>
            </a:r>
          </a:p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Lead II: LL – RA</a:t>
            </a:r>
          </a:p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Lead III: LL – LA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025798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FB36B8C-174D-72AD-2768-ABCDF9AC2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ECG Waveform</a:t>
            </a:r>
          </a:p>
        </p:txBody>
      </p:sp>
      <p:pic>
        <p:nvPicPr>
          <p:cNvPr id="1026" name="Picture 2" descr="ECG Basics Online Training for Beginners">
            <a:extLst>
              <a:ext uri="{FF2B5EF4-FFF2-40B4-BE49-F238E27FC236}">
                <a16:creationId xmlns:a16="http://schemas.microsoft.com/office/drawing/2014/main" id="{1DCBED7A-0C47-A212-6A06-E733B62448D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827" y="2294543"/>
            <a:ext cx="4096201" cy="341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299F974-C646-EBA5-F380-73A3A7B71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61599"/>
            <a:ext cx="5181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 wave: Atrial depolarization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QRS complex: Ventricular depolarization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 wave: Ventricular repolarization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 interval, ST segment, QT interval – diagnostic markers</a:t>
            </a:r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318AC82F-DD04-859B-2A6B-F335670F08B1}"/>
              </a:ext>
            </a:extLst>
          </p:cNvPr>
          <p:cNvSpPr txBox="1"/>
          <p:nvPr/>
        </p:nvSpPr>
        <p:spPr>
          <a:xfrm>
            <a:off x="2575560" y="582310"/>
            <a:ext cx="704087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008F19-97EA-F948-2FC6-6C42565CCFBC}"/>
              </a:ext>
            </a:extLst>
          </p:cNvPr>
          <p:cNvSpPr txBox="1"/>
          <p:nvPr/>
        </p:nvSpPr>
        <p:spPr>
          <a:xfrm>
            <a:off x="8815373" y="1197863"/>
            <a:ext cx="213435" cy="478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AB8447-BCCF-860B-DAD2-F5111955FEC7}"/>
              </a:ext>
            </a:extLst>
          </p:cNvPr>
          <p:cNvSpPr txBox="1"/>
          <p:nvPr/>
        </p:nvSpPr>
        <p:spPr>
          <a:xfrm>
            <a:off x="1030396" y="1676316"/>
            <a:ext cx="10492348" cy="373031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Early detection of heart issues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Identifies arrhythmias, heart attacks, and other cardiac abnormalities before symptoms escalate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Real-time monitoring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Enables continuous observation of heart activity during surgery, in ICUs, or during stress tests.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Supports diagnosis and treatment planning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Helps doctors make informed decisions about medication, procedures, or lifestyle changes.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Fast and efficient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Results are available within minutes, ideal for emergency situations.</a:t>
            </a:r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4134-0485-22F2-EC34-764D7AE2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40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C67E3-3852-B5A5-895A-3F3027DB6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4887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• 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False positives and negatives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abnormal traces may not reflect clinical disease, and some conditions remain undetected.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• Requires correct electrode placement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misplacement causes misleading waveforms.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• 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Signal artefacts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patient movement, muscle tremor, poor skin contact, or electrical interference distort readings.</a:t>
            </a:r>
          </a:p>
        </p:txBody>
      </p:sp>
    </p:spTree>
    <p:extLst>
      <p:ext uri="{BB962C8B-B14F-4D97-AF65-F5344CB8AC3E}">
        <p14:creationId xmlns:p14="http://schemas.microsoft.com/office/powerpoint/2010/main" val="498350499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C6B6B-1D83-DF8C-6B5A-11CFA49C8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problems faced during ECG recording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2ABCF-F415-7250-CD71-B1FDE9159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44650"/>
            <a:ext cx="10842523" cy="196287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Muscle tremor (EMG noise)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movement, shivering, or talking causes irregular spikes and noisy ECG trace.</a:t>
            </a:r>
          </a:p>
          <a:p>
            <a:pPr>
              <a:lnSpc>
                <a:spcPct val="10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electrode contact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Dry gel, loose electrodes, or dirty skin leads to weak or disturbed signal.</a:t>
            </a:r>
          </a:p>
          <a:p>
            <a:pPr>
              <a:lnSpc>
                <a:spcPct val="10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wander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Caused by breathing, body movement, or loose leads — ECG baseline shifts up and down.</a:t>
            </a:r>
          </a:p>
          <a:p>
            <a:pPr>
              <a:lnSpc>
                <a:spcPct val="10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artifacts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movement or cable pulling produces sudden abnormal waves.</a:t>
            </a:r>
          </a:p>
          <a:p>
            <a:pPr>
              <a:lnSpc>
                <a:spcPct val="10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Wrong lead placement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electrode position gives wrong ECG interpretation and false diagnosis.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Sweat or oily skin increases resistance and reduces signal quality.</a:t>
            </a:r>
          </a:p>
        </p:txBody>
      </p:sp>
    </p:spTree>
    <p:extLst>
      <p:ext uri="{BB962C8B-B14F-4D97-AF65-F5344CB8AC3E}">
        <p14:creationId xmlns:p14="http://schemas.microsoft.com/office/powerpoint/2010/main" val="2086256196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CE842DB-B524-4021-A588-5CDF65C0CB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4512289"/>
              </p:ext>
            </p:extLst>
          </p:nvPr>
        </p:nvGraphicFramePr>
        <p:xfrm>
          <a:off x="838200" y="955040"/>
          <a:ext cx="10662920" cy="48768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331460">
                  <a:extLst>
                    <a:ext uri="{9D8B030D-6E8A-4147-A177-3AD203B41FA5}">
                      <a16:colId xmlns:a16="http://schemas.microsoft.com/office/drawing/2014/main" val="7666677"/>
                    </a:ext>
                  </a:extLst>
                </a:gridCol>
                <a:gridCol w="5331460">
                  <a:extLst>
                    <a:ext uri="{9D8B030D-6E8A-4147-A177-3AD203B41FA5}">
                      <a16:colId xmlns:a16="http://schemas.microsoft.com/office/drawing/2014/main" val="127537332"/>
                    </a:ext>
                  </a:extLst>
                </a:gridCol>
              </a:tblGrid>
              <a:tr h="1323460">
                <a:tc>
                  <a:txBody>
                    <a:bodyPr/>
                    <a:lstStyle/>
                    <a:p>
                      <a:pPr algn="ctr"/>
                      <a:r>
                        <a:rPr lang="en-IN" sz="3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MAKE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4929249"/>
                  </a:ext>
                </a:extLst>
              </a:tr>
              <a:tr h="13345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GE</a:t>
                      </a:r>
                    </a:p>
                    <a:p>
                      <a:pPr algn="ctr"/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Mac 5</a:t>
                      </a:r>
                    </a:p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 2000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9271626"/>
                  </a:ext>
                </a:extLst>
              </a:tr>
              <a:tr h="11094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Nihon Kohden</a:t>
                      </a:r>
                    </a:p>
                    <a:p>
                      <a:pPr algn="ctr"/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Ecg-2350</a:t>
                      </a:r>
                    </a:p>
                    <a:p>
                      <a:pPr algn="ctr"/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83232482"/>
                  </a:ext>
                </a:extLst>
              </a:tr>
              <a:tr h="11094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Philips</a:t>
                      </a:r>
                      <a:endParaRPr lang="en-IN" sz="20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Tc 20</a:t>
                      </a:r>
                    </a:p>
                    <a:p>
                      <a:pPr algn="ctr"/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5424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9895932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D1FB0-6BFD-3226-554C-908B83FD7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3EBE25-7C66-149F-C102-A0B776CBEC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83427"/>
            <a:ext cx="9144000" cy="1026536"/>
          </a:xfrm>
        </p:spPr>
        <p:txBody>
          <a:bodyPr/>
          <a:lstStyle/>
          <a:p>
            <a:r>
              <a:rPr lang="en-IN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2062583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881D8D6-8849-400B-8BC9-21D401C7DD06}">
  <ds:schemaRefs>
    <ds:schemaRef ds:uri="http://purl.org/dc/dcmitype/"/>
    <ds:schemaRef ds:uri="http://www.w3.org/XML/1998/namespace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16c05727-aa75-4e4a-9b5f-8a80a1165891"/>
    <ds:schemaRef ds:uri="71af3243-3dd4-4a8d-8c0d-dd76da1f02a5"/>
    <ds:schemaRef ds:uri="http://schemas.microsoft.com/office/infopath/2007/PartnerControls"/>
    <ds:schemaRef ds:uri="http://schemas.openxmlformats.org/package/2006/metadata/core-properties"/>
    <ds:schemaRef ds:uri="230e9df3-be65-4c73-a93b-d1236ebd677e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3428</TotalTime>
  <Words>767</Words>
  <Application>Microsoft Office PowerPoint</Application>
  <PresentationFormat>Widescreen</PresentationFormat>
  <Paragraphs>85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Courier New</vt:lpstr>
      <vt:lpstr>Times New Roman</vt:lpstr>
      <vt:lpstr>Wingdings</vt:lpstr>
      <vt:lpstr>Office Theme</vt:lpstr>
      <vt:lpstr>ECG  MACHINE </vt:lpstr>
      <vt:lpstr>What is an ECG ?</vt:lpstr>
      <vt:lpstr>Working  principle</vt:lpstr>
      <vt:lpstr>Working Procedure</vt:lpstr>
      <vt:lpstr>ECG electrode placement </vt:lpstr>
      <vt:lpstr> Electrode Colours</vt:lpstr>
      <vt:lpstr>Einthoven’s triangle</vt:lpstr>
      <vt:lpstr>Understanding the ECG Waveform</vt:lpstr>
      <vt:lpstr>PowerPoint Presentation</vt:lpstr>
      <vt:lpstr>Disadvantages</vt:lpstr>
      <vt:lpstr>Common problems faced during ECG recording 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THAMOTHIRAJ V</dc:creator>
  <cp:lastModifiedBy>THAMOTHIRAJ V</cp:lastModifiedBy>
  <cp:revision>6</cp:revision>
  <dcterms:created xsi:type="dcterms:W3CDTF">2025-10-24T12:07:31Z</dcterms:created>
  <dcterms:modified xsi:type="dcterms:W3CDTF">2026-02-11T02:59:51Z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